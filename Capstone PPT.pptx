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Raleway" pitchFamily="2" charset="0"/>
      <p:regular r:id="rId24"/>
      <p:bold r:id="rId25"/>
    </p:embeddedFont>
    <p:embeddedFont>
      <p:font typeface="Raleway Bold" charset="0"/>
      <p:regular r:id="rId26"/>
    </p:embeddedFont>
    <p:embeddedFont>
      <p:font typeface="Raleway Medium" pitchFamily="2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22" autoAdjust="0"/>
  </p:normalViewPr>
  <p:slideViewPr>
    <p:cSldViewPr>
      <p:cViewPr varScale="1">
        <p:scale>
          <a:sx n="47" d="100"/>
          <a:sy n="47" d="100"/>
        </p:scale>
        <p:origin x="51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57257" y="1223919"/>
            <a:ext cx="12773486" cy="151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91"/>
              </a:lnSpc>
            </a:pPr>
            <a:r>
              <a:rPr lang="en-US" sz="885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Capstone Project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7212" y="3182667"/>
            <a:ext cx="15933575" cy="130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spc="36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STOCK TRADING AND INVESTMENT PERFORMANCE ANALYTICS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895486" y="5067300"/>
            <a:ext cx="12506553" cy="418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sz="39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</a:t>
            </a:r>
          </a:p>
          <a:p>
            <a:pPr algn="ctr">
              <a:lnSpc>
                <a:spcPts val="5502"/>
              </a:lnSpc>
            </a:pPr>
            <a:r>
              <a:rPr lang="en-US" sz="39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SAKETH KARUMUDI</a:t>
            </a:r>
          </a:p>
          <a:p>
            <a:pPr algn="ctr">
              <a:lnSpc>
                <a:spcPts val="5502"/>
              </a:lnSpc>
            </a:pPr>
            <a:r>
              <a:rPr lang="en-US" sz="39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id: sakethkarumudi@gmail.com</a:t>
            </a:r>
          </a:p>
          <a:p>
            <a:pPr algn="ctr">
              <a:lnSpc>
                <a:spcPts val="5502"/>
              </a:lnSpc>
            </a:pPr>
            <a:r>
              <a:rPr lang="en-US" sz="39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VNR VIGNANA JYOTHI INSTITUTE OF ENGINEERING AND TECHINOLOGY</a:t>
            </a:r>
          </a:p>
          <a:p>
            <a:pPr algn="ctr">
              <a:lnSpc>
                <a:spcPts val="5502"/>
              </a:lnSpc>
            </a:pPr>
            <a:endParaRPr lang="en-US" sz="393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48449" y="1842729"/>
            <a:ext cx="10652951" cy="8119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Financial markets generate large volumes of time-series data that must be analyzed efficiently to support trading and investment decisions.</a:t>
            </a:r>
          </a:p>
          <a:p>
            <a:pPr algn="just">
              <a:lnSpc>
                <a:spcPts val="4900"/>
              </a:lnSpc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However, organizations often face: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Fragmented raw data stored in flat files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 and non-scalable analysis processes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Limited visibility into portfolio performance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Inconsistent measurement of returns and risk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just">
              <a:lnSpc>
                <a:spcPts val="4900"/>
              </a:lnSpc>
            </a:pPr>
            <a:r>
              <a:rPr lang="en-US" sz="3000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Business Requirement:</a:t>
            </a:r>
          </a:p>
          <a:p>
            <a:pPr algn="just">
              <a:lnSpc>
                <a:spcPts val="4900"/>
              </a:lnSpc>
            </a:pPr>
            <a:r>
              <a:rPr lang="en-US" sz="30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centralized, automated analytics platform to process market data and deliver actionable insights.</a:t>
            </a:r>
          </a:p>
          <a:p>
            <a:pPr algn="just">
              <a:lnSpc>
                <a:spcPts val="4900"/>
              </a:lnSpc>
            </a:pPr>
            <a:endParaRPr lang="en-US" sz="3000" b="1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663204" y="1817482"/>
            <a:ext cx="6416451" cy="6416451"/>
          </a:xfrm>
          <a:custGeom>
            <a:avLst/>
            <a:gdLst/>
            <a:ahLst/>
            <a:cxnLst/>
            <a:rect l="l" t="t" r="r" b="b"/>
            <a:pathLst>
              <a:path w="6416451" h="6416451">
                <a:moveTo>
                  <a:pt x="0" y="0"/>
                </a:moveTo>
                <a:lnTo>
                  <a:pt x="6416451" y="0"/>
                </a:lnTo>
                <a:lnTo>
                  <a:pt x="6416451" y="6416451"/>
                </a:lnTo>
                <a:lnTo>
                  <a:pt x="0" y="6416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48449" y="327589"/>
            <a:ext cx="10759356" cy="117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7"/>
              </a:lnSpc>
              <a:spcBef>
                <a:spcPct val="0"/>
              </a:spcBef>
            </a:pPr>
            <a:r>
              <a:rPr lang="en-US" sz="6755" b="1" spc="67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STATEMENT AND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16182" y="1769257"/>
            <a:ext cx="13228418" cy="6391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04"/>
              </a:lnSpc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organization requires a centralized analytics system that can:</a:t>
            </a:r>
          </a:p>
          <a:p>
            <a:pPr marL="864313" lvl="1" indent="-432156" algn="just">
              <a:lnSpc>
                <a:spcPts val="5604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Automatically process stock market data</a:t>
            </a:r>
          </a:p>
          <a:p>
            <a:pPr marL="864313" lvl="1" indent="-432156" algn="just">
              <a:lnSpc>
                <a:spcPts val="5604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Analyze trading and investment performance</a:t>
            </a:r>
          </a:p>
          <a:p>
            <a:pPr marL="864313" lvl="1" indent="-432156" algn="just">
              <a:lnSpc>
                <a:spcPts val="5604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Measure returns, volatility, and trends</a:t>
            </a:r>
          </a:p>
          <a:p>
            <a:pPr marL="864313" lvl="1" indent="-432156" algn="just">
              <a:lnSpc>
                <a:spcPts val="5604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Provide business-ready insights through dashboards</a:t>
            </a:r>
          </a:p>
          <a:p>
            <a:pPr algn="just">
              <a:lnSpc>
                <a:spcPts val="5604"/>
              </a:lnSpc>
            </a:pPr>
            <a:r>
              <a:rPr lang="en-US" sz="3500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system must be scalable, reliable, and automated.</a:t>
            </a:r>
          </a:p>
          <a:p>
            <a:pPr algn="just">
              <a:lnSpc>
                <a:spcPts val="5604"/>
              </a:lnSpc>
            </a:pPr>
            <a:endParaRPr lang="en-US" sz="3500" b="1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algn="just">
              <a:lnSpc>
                <a:spcPts val="5604"/>
              </a:lnSpc>
            </a:pPr>
            <a:endParaRPr lang="en-US" sz="3500" b="1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STATEMENT AND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28700" y="2498465"/>
            <a:ext cx="15368587" cy="514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4"/>
              </a:lnSpc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objectives of this project are to:</a:t>
            </a:r>
          </a:p>
          <a:p>
            <a:pPr marL="901369" lvl="1" indent="-450684" algn="just">
              <a:lnSpc>
                <a:spcPts val="5844"/>
              </a:lnSpc>
              <a:buFont typeface="Arial"/>
              <a:buChar char="•"/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Build an automated pipeline for stock market data</a:t>
            </a:r>
          </a:p>
          <a:p>
            <a:pPr marL="901369" lvl="1" indent="-450684" algn="just">
              <a:lnSpc>
                <a:spcPts val="5844"/>
              </a:lnSpc>
              <a:buFont typeface="Arial"/>
              <a:buChar char="•"/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Clean, validate, and standardize financial datasets</a:t>
            </a:r>
          </a:p>
          <a:p>
            <a:pPr marL="901369" lvl="1" indent="-450684" algn="just">
              <a:lnSpc>
                <a:spcPts val="5844"/>
              </a:lnSpc>
              <a:buFont typeface="Arial"/>
              <a:buChar char="•"/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Perform market, company, and portfolio analytics</a:t>
            </a:r>
          </a:p>
          <a:p>
            <a:pPr marL="901369" lvl="1" indent="-450684" algn="just">
              <a:lnSpc>
                <a:spcPts val="5844"/>
              </a:lnSpc>
              <a:buFont typeface="Arial"/>
              <a:buChar char="•"/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Enable scheduled and monitored data workflows</a:t>
            </a:r>
          </a:p>
          <a:p>
            <a:pPr marL="901369" lvl="1" indent="-450684" algn="just">
              <a:lnSpc>
                <a:spcPts val="5844"/>
              </a:lnSpc>
              <a:buFont typeface="Arial"/>
              <a:buChar char="•"/>
            </a:pPr>
            <a:r>
              <a:rPr lang="en-US" sz="4174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Deliver insights through interactive Power BI dashboards</a:t>
            </a:r>
          </a:p>
          <a:p>
            <a:pPr algn="just">
              <a:lnSpc>
                <a:spcPts val="5844"/>
              </a:lnSpc>
            </a:pPr>
            <a:endParaRPr lang="en-US" sz="4174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66106" y="2023159"/>
            <a:ext cx="10296640" cy="678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54"/>
              </a:lnSpc>
            </a:pPr>
            <a:r>
              <a:rPr lang="en-US" sz="3824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Processing &amp; Analytics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Python for ingestion and preprocessing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Pandas for time-series analysis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PySpark</a:t>
            </a: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for large-scale transformations</a:t>
            </a:r>
          </a:p>
          <a:p>
            <a:pPr algn="just">
              <a:lnSpc>
                <a:spcPts val="5354"/>
              </a:lnSpc>
            </a:pPr>
            <a:r>
              <a:rPr lang="en-US" sz="3824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Platform &amp; Tools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Databricks for distributed processing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Apache Airflow for orchestration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Power BI for visualization</a:t>
            </a:r>
          </a:p>
          <a:p>
            <a:pPr marL="825686" lvl="1" indent="-412843" algn="just">
              <a:lnSpc>
                <a:spcPts val="5354"/>
              </a:lnSpc>
              <a:buFont typeface="Arial"/>
              <a:buChar char="•"/>
            </a:pPr>
            <a:r>
              <a:rPr lang="en-US" sz="3824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GitHub for version control</a:t>
            </a:r>
          </a:p>
          <a:p>
            <a:pPr algn="just">
              <a:lnSpc>
                <a:spcPts val="5354"/>
              </a:lnSpc>
            </a:pPr>
            <a:endParaRPr lang="en-US" sz="3824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818954" y="1956134"/>
            <a:ext cx="3069573" cy="3069573"/>
          </a:xfrm>
          <a:custGeom>
            <a:avLst/>
            <a:gdLst/>
            <a:ahLst/>
            <a:cxnLst/>
            <a:rect l="l" t="t" r="r" b="b"/>
            <a:pathLst>
              <a:path w="3069573" h="3069573">
                <a:moveTo>
                  <a:pt x="0" y="0"/>
                </a:moveTo>
                <a:lnTo>
                  <a:pt x="3069573" y="0"/>
                </a:lnTo>
                <a:lnTo>
                  <a:pt x="3069573" y="3069573"/>
                </a:lnTo>
                <a:lnTo>
                  <a:pt x="0" y="3069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241257" y="1554226"/>
            <a:ext cx="2105976" cy="2105976"/>
          </a:xfrm>
          <a:custGeom>
            <a:avLst/>
            <a:gdLst/>
            <a:ahLst/>
            <a:cxnLst/>
            <a:rect l="l" t="t" r="r" b="b"/>
            <a:pathLst>
              <a:path w="2105976" h="2105976">
                <a:moveTo>
                  <a:pt x="0" y="0"/>
                </a:moveTo>
                <a:lnTo>
                  <a:pt x="2105976" y="0"/>
                </a:lnTo>
                <a:lnTo>
                  <a:pt x="2105976" y="2105976"/>
                </a:lnTo>
                <a:lnTo>
                  <a:pt x="0" y="2105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09425" y="6265673"/>
            <a:ext cx="3279102" cy="3279102"/>
          </a:xfrm>
          <a:custGeom>
            <a:avLst/>
            <a:gdLst/>
            <a:ahLst/>
            <a:cxnLst/>
            <a:rect l="l" t="t" r="r" b="b"/>
            <a:pathLst>
              <a:path w="3279102" h="3279102">
                <a:moveTo>
                  <a:pt x="0" y="0"/>
                </a:moveTo>
                <a:lnTo>
                  <a:pt x="3279102" y="0"/>
                </a:lnTo>
                <a:lnTo>
                  <a:pt x="3279102" y="3279102"/>
                </a:lnTo>
                <a:lnTo>
                  <a:pt x="0" y="3279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172677" y="4183170"/>
            <a:ext cx="3436748" cy="3436748"/>
          </a:xfrm>
          <a:custGeom>
            <a:avLst/>
            <a:gdLst/>
            <a:ahLst/>
            <a:cxnLst/>
            <a:rect l="l" t="t" r="r" b="b"/>
            <a:pathLst>
              <a:path w="3436748" h="3436748">
                <a:moveTo>
                  <a:pt x="0" y="0"/>
                </a:moveTo>
                <a:lnTo>
                  <a:pt x="3436748" y="0"/>
                </a:lnTo>
                <a:lnTo>
                  <a:pt x="3436748" y="3436747"/>
                </a:lnTo>
                <a:lnTo>
                  <a:pt x="0" y="3436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TECH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19891" y="1302315"/>
            <a:ext cx="10857744" cy="5985331"/>
          </a:xfrm>
          <a:custGeom>
            <a:avLst/>
            <a:gdLst/>
            <a:ahLst/>
            <a:cxnLst/>
            <a:rect l="l" t="t" r="r" b="b"/>
            <a:pathLst>
              <a:path w="10857744" h="5985331">
                <a:moveTo>
                  <a:pt x="0" y="0"/>
                </a:moveTo>
                <a:lnTo>
                  <a:pt x="10857744" y="0"/>
                </a:lnTo>
                <a:lnTo>
                  <a:pt x="10857744" y="5985331"/>
                </a:lnTo>
                <a:lnTo>
                  <a:pt x="0" y="5985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ARCHITECTURE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206512" y="7585575"/>
            <a:ext cx="7932726" cy="225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553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Design Approach</a:t>
            </a:r>
          </a:p>
          <a:p>
            <a:pPr marL="551396" lvl="1" indent="-275698" algn="l">
              <a:lnSpc>
                <a:spcPts val="3575"/>
              </a:lnSpc>
              <a:buFont typeface="Arial"/>
              <a:buChar char="•"/>
            </a:pPr>
            <a:r>
              <a:rPr lang="en-US" sz="2553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Layered architecture</a:t>
            </a:r>
          </a:p>
          <a:p>
            <a:pPr marL="551396" lvl="1" indent="-275698" algn="l">
              <a:lnSpc>
                <a:spcPts val="3575"/>
              </a:lnSpc>
              <a:buFont typeface="Arial"/>
              <a:buChar char="•"/>
            </a:pPr>
            <a:r>
              <a:rPr lang="en-US" sz="2553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Separation of concerns</a:t>
            </a:r>
          </a:p>
          <a:p>
            <a:pPr marL="551396" lvl="1" indent="-275698" algn="l">
              <a:lnSpc>
                <a:spcPts val="3575"/>
              </a:lnSpc>
              <a:buFont typeface="Arial"/>
              <a:buChar char="•"/>
            </a:pPr>
            <a:r>
              <a:rPr lang="en-US" sz="2553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Analytics-ready data models</a:t>
            </a:r>
          </a:p>
          <a:p>
            <a:pPr algn="l">
              <a:lnSpc>
                <a:spcPts val="3575"/>
              </a:lnSpc>
            </a:pPr>
            <a:endParaRPr lang="en-US" sz="2553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352454" y="0"/>
            <a:ext cx="8935546" cy="10287000"/>
          </a:xfrm>
          <a:custGeom>
            <a:avLst/>
            <a:gdLst/>
            <a:ahLst/>
            <a:cxnLst/>
            <a:rect l="l" t="t" r="r" b="b"/>
            <a:pathLst>
              <a:path w="8935546" h="10287000">
                <a:moveTo>
                  <a:pt x="0" y="0"/>
                </a:moveTo>
                <a:lnTo>
                  <a:pt x="8935546" y="0"/>
                </a:lnTo>
                <a:lnTo>
                  <a:pt x="89355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27" b="-142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516348"/>
            <a:ext cx="6805637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Datasets Used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Company master data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Daily stock prices (OHLCV)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Traders and trade transactions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Foreign exchange rates</a:t>
            </a:r>
          </a:p>
          <a:p>
            <a:pPr algn="just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Characteristics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Historical and incremental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Time-series based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Multi-currency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449" y="356164"/>
            <a:ext cx="17073445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 spc="54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BRONZE LAYER - DATA INGESTION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1" y="2063129"/>
            <a:ext cx="12611100" cy="6084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31"/>
              </a:lnSpc>
            </a:pPr>
            <a:r>
              <a:rPr lang="en-US" sz="30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Was Done</a:t>
            </a:r>
          </a:p>
          <a:p>
            <a:pPr marL="745093" lvl="1" indent="-372547" algn="just">
              <a:lnSpc>
                <a:spcPts val="4831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Raw CSV files were ingested into the system</a:t>
            </a:r>
          </a:p>
          <a:p>
            <a:pPr marL="745093" lvl="1" indent="-372547" algn="just">
              <a:lnSpc>
                <a:spcPts val="4831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Both historical and daily incremental data were supported</a:t>
            </a:r>
          </a:p>
          <a:p>
            <a:pPr marL="745093" lvl="1" indent="-372547" algn="just">
              <a:lnSpc>
                <a:spcPts val="4831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Metadata was added to track:</a:t>
            </a:r>
          </a:p>
          <a:p>
            <a:pPr marL="1490186" lvl="2" indent="-496729" algn="just">
              <a:lnSpc>
                <a:spcPts val="4831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Ingestion time</a:t>
            </a:r>
          </a:p>
          <a:p>
            <a:pPr marL="1490186" lvl="2" indent="-496729" algn="just">
              <a:lnSpc>
                <a:spcPts val="4831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 source</a:t>
            </a:r>
          </a:p>
          <a:p>
            <a:pPr marL="1490186" lvl="2" indent="-496729" algn="just">
              <a:lnSpc>
                <a:spcPts val="4831"/>
              </a:lnSpc>
              <a:buFont typeface="Arial"/>
              <a:buChar char="⚬"/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Load type</a:t>
            </a:r>
          </a:p>
          <a:p>
            <a:pPr algn="just">
              <a:lnSpc>
                <a:spcPts val="4831"/>
              </a:lnSpc>
            </a:pPr>
            <a:r>
              <a:rPr lang="en-US" sz="30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Outcome</a:t>
            </a:r>
          </a:p>
          <a:p>
            <a:pPr algn="just">
              <a:lnSpc>
                <a:spcPts val="4831"/>
              </a:lnSpc>
            </a:pPr>
            <a:r>
              <a:rPr lang="en-US" sz="30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reliable raw data foundation with full traceability.</a:t>
            </a:r>
          </a:p>
          <a:p>
            <a:pPr algn="just">
              <a:lnSpc>
                <a:spcPts val="4831"/>
              </a:lnSpc>
            </a:pPr>
            <a:endParaRPr lang="en-US" sz="30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0C1DA1-7A25-0BB9-27BA-CB0427F17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4800" y="1658478"/>
            <a:ext cx="6134099" cy="6134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SILVER LAYER - DATA QUALITY AND 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6283" y="2119360"/>
            <a:ext cx="11849100" cy="6048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70"/>
              </a:lnSpc>
            </a:pPr>
            <a:r>
              <a:rPr lang="en-US" sz="3407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Was Done</a:t>
            </a:r>
          </a:p>
          <a:p>
            <a:pPr marL="735691" lvl="1" indent="-367845" algn="just">
              <a:lnSpc>
                <a:spcPts val="4770"/>
              </a:lnSpc>
              <a:buFont typeface="Arial"/>
              <a:buChar char="•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 types were standardized (dates, prices, volumes)</a:t>
            </a:r>
          </a:p>
          <a:p>
            <a:pPr marL="735691" lvl="1" indent="-367845" algn="just">
              <a:lnSpc>
                <a:spcPts val="4770"/>
              </a:lnSpc>
              <a:buFont typeface="Arial"/>
              <a:buChar char="•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Invalid records were identified:</a:t>
            </a:r>
          </a:p>
          <a:p>
            <a:pPr marL="1471381" lvl="2" indent="-490460" algn="just">
              <a:lnSpc>
                <a:spcPts val="4770"/>
              </a:lnSpc>
              <a:buFont typeface="Arial"/>
              <a:buChar char="⚬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Missing values</a:t>
            </a:r>
          </a:p>
          <a:p>
            <a:pPr marL="1471381" lvl="2" indent="-490460" algn="just">
              <a:lnSpc>
                <a:spcPts val="4770"/>
              </a:lnSpc>
              <a:buFont typeface="Arial"/>
              <a:buChar char="⚬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Negative prices or quantities</a:t>
            </a:r>
          </a:p>
          <a:p>
            <a:pPr marL="735691" lvl="1" indent="-367845" algn="just">
              <a:lnSpc>
                <a:spcPts val="4770"/>
              </a:lnSpc>
              <a:buFont typeface="Arial"/>
              <a:buChar char="•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Duplicate records were removed</a:t>
            </a:r>
          </a:p>
          <a:p>
            <a:pPr marL="735691" lvl="1" indent="-367845" algn="just">
              <a:lnSpc>
                <a:spcPts val="4770"/>
              </a:lnSpc>
              <a:buFont typeface="Arial"/>
              <a:buChar char="•"/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Referential integrity was enforced across datasets</a:t>
            </a:r>
          </a:p>
          <a:p>
            <a:pPr algn="just">
              <a:lnSpc>
                <a:spcPts val="4770"/>
              </a:lnSpc>
            </a:pPr>
            <a:r>
              <a:rPr lang="en-US" sz="3407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Outcome</a:t>
            </a:r>
          </a:p>
          <a:p>
            <a:pPr algn="just">
              <a:lnSpc>
                <a:spcPts val="4770"/>
              </a:lnSpc>
            </a:pPr>
            <a:r>
              <a:rPr lang="en-US" sz="3407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Clean, consistent, and trustworthy datasets for analytics.</a:t>
            </a:r>
          </a:p>
          <a:p>
            <a:pPr algn="just">
              <a:lnSpc>
                <a:spcPts val="4770"/>
              </a:lnSpc>
            </a:pPr>
            <a:endParaRPr lang="en-US" sz="3407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332504-0E2A-0CFF-05E1-2C1353DA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293" y="2614103"/>
            <a:ext cx="5058793" cy="5058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QUALITY MANAGEMENT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953388"/>
            <a:ext cx="10858500" cy="6568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178"/>
              </a:lnSpc>
            </a:pPr>
            <a:r>
              <a:rPr lang="en-US" sz="35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Quality Handling</a:t>
            </a:r>
          </a:p>
          <a:p>
            <a:pPr marL="798642" lvl="1" indent="-399321" algn="just">
              <a:lnSpc>
                <a:spcPts val="5178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Invalid records were not deleted</a:t>
            </a:r>
          </a:p>
          <a:p>
            <a:pPr marL="798642" lvl="1" indent="-399321" algn="just">
              <a:lnSpc>
                <a:spcPts val="5178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They were moved to dedicated reject tables</a:t>
            </a:r>
          </a:p>
          <a:p>
            <a:pPr algn="just">
              <a:lnSpc>
                <a:spcPts val="5178"/>
              </a:lnSpc>
            </a:pPr>
            <a:r>
              <a:rPr lang="en-US" sz="35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Benefits</a:t>
            </a:r>
          </a:p>
          <a:p>
            <a:pPr marL="798642" lvl="1" indent="-399321" algn="just">
              <a:lnSpc>
                <a:spcPts val="5178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Full auditability</a:t>
            </a:r>
          </a:p>
          <a:p>
            <a:pPr marL="798642" lvl="1" indent="-399321" algn="just">
              <a:lnSpc>
                <a:spcPts val="5178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Transparency in data quality issues</a:t>
            </a:r>
          </a:p>
          <a:p>
            <a:pPr marL="798642" lvl="1" indent="-399321" algn="just">
              <a:lnSpc>
                <a:spcPts val="5178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Improved trust in analytical results</a:t>
            </a:r>
          </a:p>
          <a:p>
            <a:pPr algn="just">
              <a:lnSpc>
                <a:spcPts val="5178"/>
              </a:lnSpc>
            </a:pPr>
            <a:r>
              <a:rPr lang="en-US" sz="35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approach reflects real-world enterprise data governance practices.</a:t>
            </a:r>
          </a:p>
          <a:p>
            <a:pPr algn="just">
              <a:lnSpc>
                <a:spcPts val="5178"/>
              </a:lnSpc>
            </a:pPr>
            <a:endParaRPr lang="en-US" sz="35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6998D-75AB-F9BD-2BA7-A2B2F164F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217170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GOLD LAYER - FINANCIAL ANALYTICS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22700"/>
            <a:ext cx="12859317" cy="69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55"/>
              </a:lnSpc>
            </a:pPr>
            <a:r>
              <a:rPr lang="en-US" sz="361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Was Built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Market-level performance metrics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Company-level price and return analysis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Trader portfolio performance tracking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Sector and long-term trend analysis</a:t>
            </a:r>
          </a:p>
          <a:p>
            <a:pPr algn="just">
              <a:lnSpc>
                <a:spcPts val="5055"/>
              </a:lnSpc>
            </a:pPr>
            <a:r>
              <a:rPr lang="en-US" sz="3611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Analytics Examples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Daily returns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Moving averages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Volatility measures</a:t>
            </a:r>
          </a:p>
          <a:p>
            <a:pPr marL="779692" lvl="1" indent="-389846" algn="just">
              <a:lnSpc>
                <a:spcPts val="5055"/>
              </a:lnSpc>
              <a:buFont typeface="Arial"/>
              <a:buChar char="•"/>
            </a:pPr>
            <a:r>
              <a:rPr lang="en-US" sz="361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Profit and loss calculations</a:t>
            </a:r>
          </a:p>
          <a:p>
            <a:pPr algn="just">
              <a:lnSpc>
                <a:spcPts val="5055"/>
              </a:lnSpc>
            </a:pPr>
            <a:endParaRPr lang="en-US" sz="3611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828C83-F3E9-F639-C874-666B6A6D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617" y="2247900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 AUTOMATION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1" y="2039866"/>
            <a:ext cx="11696696" cy="5489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846"/>
              </a:lnSpc>
            </a:pPr>
            <a:r>
              <a:rPr lang="en-US" sz="3462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Automation Design</a:t>
            </a:r>
          </a:p>
          <a:p>
            <a:pPr marL="747453" lvl="1" indent="-373727" algn="just">
              <a:lnSpc>
                <a:spcPts val="4846"/>
              </a:lnSpc>
              <a:buFont typeface="Arial"/>
              <a:buChar char="•"/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Apache Airflow schedules the end-to-end pipeline</a:t>
            </a:r>
          </a:p>
          <a:p>
            <a:pPr marL="747453" lvl="1" indent="-373727" algn="just">
              <a:lnSpc>
                <a:spcPts val="4846"/>
              </a:lnSpc>
              <a:buFont typeface="Arial"/>
              <a:buChar char="•"/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Each Airflow DAG:</a:t>
            </a:r>
          </a:p>
          <a:p>
            <a:pPr marL="1494906" lvl="2" indent="-498302" algn="just">
              <a:lnSpc>
                <a:spcPts val="4846"/>
              </a:lnSpc>
              <a:buFont typeface="Arial"/>
              <a:buChar char="⚬"/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Triggers Databricks notebooks/jobs</a:t>
            </a:r>
          </a:p>
          <a:p>
            <a:pPr marL="1494906" lvl="2" indent="-498302" algn="just">
              <a:lnSpc>
                <a:spcPts val="4846"/>
              </a:lnSpc>
              <a:buFont typeface="Arial"/>
              <a:buChar char="⚬"/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Manages dependencies (Bronze → Silver → Gold)</a:t>
            </a:r>
          </a:p>
          <a:p>
            <a:pPr marL="1494906" lvl="2" indent="-498302" algn="just">
              <a:lnSpc>
                <a:spcPts val="4846"/>
              </a:lnSpc>
              <a:buFont typeface="Arial"/>
              <a:buChar char="⚬"/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Handles retries and failures</a:t>
            </a:r>
          </a:p>
          <a:p>
            <a:pPr algn="just">
              <a:lnSpc>
                <a:spcPts val="4846"/>
              </a:lnSpc>
            </a:pPr>
            <a:r>
              <a:rPr lang="en-US" sz="3462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Outcome</a:t>
            </a:r>
          </a:p>
          <a:p>
            <a:pPr algn="just">
              <a:lnSpc>
                <a:spcPts val="4846"/>
              </a:lnSpc>
            </a:pPr>
            <a:r>
              <a:rPr lang="en-US" sz="3462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production-style, fully automated analytics workflow.</a:t>
            </a:r>
          </a:p>
          <a:p>
            <a:pPr algn="just">
              <a:lnSpc>
                <a:spcPts val="4846"/>
              </a:lnSpc>
            </a:pPr>
            <a:endParaRPr lang="en-US" sz="3462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3C0C97-75FC-E260-DD86-578494435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396" y="2384076"/>
            <a:ext cx="48006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7366045"/>
            <a:ext cx="13286657" cy="2491248"/>
          </a:xfrm>
          <a:custGeom>
            <a:avLst/>
            <a:gdLst/>
            <a:ahLst/>
            <a:cxnLst/>
            <a:rect l="l" t="t" r="r" b="b"/>
            <a:pathLst>
              <a:path w="13286657" h="2491248">
                <a:moveTo>
                  <a:pt x="0" y="0"/>
                </a:moveTo>
                <a:lnTo>
                  <a:pt x="13286657" y="0"/>
                </a:lnTo>
                <a:lnTo>
                  <a:pt x="13286657" y="2491248"/>
                </a:lnTo>
                <a:lnTo>
                  <a:pt x="0" y="2491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787548"/>
            <a:ext cx="13286657" cy="5237140"/>
          </a:xfrm>
          <a:custGeom>
            <a:avLst/>
            <a:gdLst/>
            <a:ahLst/>
            <a:cxnLst/>
            <a:rect l="l" t="t" r="r" b="b"/>
            <a:pathLst>
              <a:path w="13286657" h="5237140">
                <a:moveTo>
                  <a:pt x="0" y="0"/>
                </a:moveTo>
                <a:lnTo>
                  <a:pt x="13286657" y="0"/>
                </a:lnTo>
                <a:lnTo>
                  <a:pt x="13286657" y="5237140"/>
                </a:lnTo>
                <a:lnTo>
                  <a:pt x="0" y="5237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14" b="-581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58915" y="5997353"/>
            <a:ext cx="15111039" cy="2939412"/>
          </a:xfrm>
          <a:custGeom>
            <a:avLst/>
            <a:gdLst/>
            <a:ahLst/>
            <a:cxnLst/>
            <a:rect l="l" t="t" r="r" b="b"/>
            <a:pathLst>
              <a:path w="15111039" h="2939412">
                <a:moveTo>
                  <a:pt x="0" y="0"/>
                </a:moveTo>
                <a:lnTo>
                  <a:pt x="15111038" y="0"/>
                </a:lnTo>
                <a:lnTo>
                  <a:pt x="15111038" y="2939412"/>
                </a:lnTo>
                <a:lnTo>
                  <a:pt x="0" y="2939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897" r="-724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8915" y="2291624"/>
            <a:ext cx="14573426" cy="3187937"/>
          </a:xfrm>
          <a:custGeom>
            <a:avLst/>
            <a:gdLst/>
            <a:ahLst/>
            <a:cxnLst/>
            <a:rect l="l" t="t" r="r" b="b"/>
            <a:pathLst>
              <a:path w="14573426" h="3187937">
                <a:moveTo>
                  <a:pt x="0" y="0"/>
                </a:moveTo>
                <a:lnTo>
                  <a:pt x="14573426" y="0"/>
                </a:lnTo>
                <a:lnTo>
                  <a:pt x="14573426" y="3187937"/>
                </a:lnTo>
                <a:lnTo>
                  <a:pt x="0" y="3187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WORKFLOW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DASHBOARDS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6182" y="1796435"/>
            <a:ext cx="7477498" cy="672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3417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Dashboards Delivered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Market Overview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Company Performance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Trader Portfolio Performance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Sector and Trend Analysis</a:t>
            </a:r>
          </a:p>
          <a:p>
            <a:pPr algn="l">
              <a:lnSpc>
                <a:spcPts val="4784"/>
              </a:lnSpc>
            </a:pPr>
            <a:r>
              <a:rPr lang="en-US" sz="3417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Features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KPI cards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Interactive filters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Time-based trends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Drill-down analysis</a:t>
            </a:r>
          </a:p>
          <a:p>
            <a:pPr algn="l">
              <a:lnSpc>
                <a:spcPts val="4784"/>
              </a:lnSpc>
            </a:pPr>
            <a:endParaRPr lang="en-US" sz="3417" b="1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80155" y="1796435"/>
            <a:ext cx="7477498" cy="610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lang="en-US" sz="3417" b="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Business Use Cases Answered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Track overall market trends and risk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Identify high-performing and underperforming stocks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Evaluate trader profitability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Compare sector performance</a:t>
            </a:r>
          </a:p>
          <a:p>
            <a:pPr marL="737770" lvl="1" indent="-368885" algn="l">
              <a:lnSpc>
                <a:spcPts val="4784"/>
              </a:lnSpc>
              <a:buFont typeface="Arial"/>
              <a:buChar char="•"/>
            </a:pPr>
            <a:r>
              <a:rPr lang="en-US" sz="3417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Make risk-adjusted investment decisions</a:t>
            </a:r>
          </a:p>
          <a:p>
            <a:pPr algn="l">
              <a:lnSpc>
                <a:spcPts val="4784"/>
              </a:lnSpc>
            </a:pPr>
            <a:endParaRPr lang="en-US" sz="3417" b="1" dirty="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DASHBOARDS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6A702-F4D7-5E5C-88B5-C0350472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5900"/>
            <a:ext cx="15087600" cy="839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35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DASHBOARDS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C2919-228D-3146-771D-032A328D2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26266"/>
            <a:ext cx="14572448" cy="808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16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DASHBOARDS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ED69BB-BCAD-66E9-B521-D6D5EACF8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15156"/>
            <a:ext cx="13527388" cy="754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70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9688" y="398863"/>
            <a:ext cx="17570497" cy="78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3"/>
              </a:lnSpc>
              <a:spcBef>
                <a:spcPct val="0"/>
              </a:spcBef>
            </a:pPr>
            <a:r>
              <a:rPr lang="en-US" sz="4545" b="1" spc="4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POWER BI DASHBOARDS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9D35F8-53E1-B77E-65EF-F150C6520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70163"/>
            <a:ext cx="14370284" cy="806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24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FD5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77767" y="3086100"/>
            <a:ext cx="7732462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556</Words>
  <Application>Microsoft Office PowerPoint</Application>
  <PresentationFormat>Custom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Canva Sans Bold</vt:lpstr>
      <vt:lpstr>Raleway</vt:lpstr>
      <vt:lpstr>Arial</vt:lpstr>
      <vt:lpstr>Canva Sans</vt:lpstr>
      <vt:lpstr>Calibri</vt:lpstr>
      <vt:lpstr>Raleway 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cp:lastModifiedBy>Saketh Karumudi</cp:lastModifiedBy>
  <cp:revision>9</cp:revision>
  <dcterms:created xsi:type="dcterms:W3CDTF">2006-08-16T00:00:00Z</dcterms:created>
  <dcterms:modified xsi:type="dcterms:W3CDTF">2026-01-06T14:31:58Z</dcterms:modified>
  <dc:identifier>DAG9iq7SEcg</dc:identifier>
</cp:coreProperties>
</file>